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Sheet1!$A$2:$A$4</c:f>
              <c:strCache>
                <c:ptCount val="3"/>
                <c:pt idx="0">
                  <c:v>LinkedIn Ads</c:v>
                </c:pt>
                <c:pt idx="1">
                  <c:v>Search</c:v>
                </c:pt>
                <c:pt idx="2">
                  <c:v>Display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0.331741</c:v>
                </c:pt>
                <c:pt idx="1">
                  <c:v>0.326936</c:v>
                </c:pt>
                <c:pt idx="2">
                  <c:v>0.341324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Recommended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LinkedIn Ads</c:v>
                </c:pt>
                <c:pt idx="1">
                  <c:v>Search</c:v>
                </c:pt>
                <c:pt idx="2">
                  <c:v>Display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0.486655</c:v>
                </c:pt>
                <c:pt idx="1">
                  <c:v>0.295286</c:v>
                </c:pt>
                <c:pt idx="2">
                  <c:v>0.218058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1F4E78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Modeled pipeline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0.5×</c:v>
                </c:pt>
                <c:pt idx="1">
                  <c:v>0.75×</c:v>
                </c:pt>
                <c:pt idx="2">
                  <c:v>1×</c:v>
                </c:pt>
                <c:pt idx="3">
                  <c:v>1.2×</c:v>
                </c:pt>
                <c:pt idx="4">
                  <c:v>1.6×</c:v>
                </c:pt>
                <c:pt idx="5">
                  <c:v>2×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16663300.0</c:v>
                </c:pt>
                <c:pt idx="1">
                  <c:v>17317000.0</c:v>
                </c:pt>
                <c:pt idx="2">
                  <c:v>17786700.0</c:v>
                </c:pt>
                <c:pt idx="3">
                  <c:v>18083200.0</c:v>
                </c:pt>
                <c:pt idx="4">
                  <c:v>18544000.0</c:v>
                </c:pt>
                <c:pt idx="5">
                  <c:v>18891700.0</c:v>
                </c:pt>
              </c:numCache>
            </c:numRef>
          </c:val>
        </c:ser>
        <c:dLbls>
          <c:numFmt formatCode="$0.0,,&quot;M&quot;" sourceLinked="0"/>
          <c:txPr>
            <a:bodyPr/>
            <a:lstStyle/>
            <a:p>
              <a:pPr>
                <a:defRPr sz="900" b="1">
                  <a:solidFill>
                    <a:srgbClr val="1F4E78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ROI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LinkedIn Ads</c:v>
                </c:pt>
                <c:pt idx="1">
                  <c:v>Search</c:v>
                </c:pt>
                <c:pt idx="2">
                  <c:v>Display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4.80916</c:v>
                </c:pt>
                <c:pt idx="1">
                  <c:v>3.02871</c:v>
                </c:pt>
                <c:pt idx="2">
                  <c:v>1.99439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sz="1000" b="1">
                  <a:solidFill>
                    <a:srgbClr val="1F4E78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Linkedin Ads Expected Outcome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cat>
            <c:strRef>
              <c:f>Sheet1!$A$2:$A$8</c:f>
              <c:strCache>
                <c:ptCount val="7"/>
                <c:pt idx="0">
                  <c:v>0.25×</c:v>
                </c:pt>
                <c:pt idx="1">
                  <c:v>0.5×</c:v>
                </c:pt>
                <c:pt idx="2">
                  <c:v>0.75×</c:v>
                </c:pt>
                <c:pt idx="3">
                  <c:v>1×</c:v>
                </c:pt>
                <c:pt idx="4">
                  <c:v>1.25×</c:v>
                </c:pt>
                <c:pt idx="5">
                  <c:v>1.5×</c:v>
                </c:pt>
                <c:pt idx="6">
                  <c:v>2×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16467800.0</c:v>
                </c:pt>
                <c:pt idx="1">
                  <c:v>16951600.0</c:v>
                </c:pt>
                <c:pt idx="2">
                  <c:v>17256800.0</c:v>
                </c:pt>
                <c:pt idx="3">
                  <c:v>17475800.0</c:v>
                </c:pt>
                <c:pt idx="4">
                  <c:v>17646600.0</c:v>
                </c:pt>
                <c:pt idx="5">
                  <c:v>17786100.0</c:v>
                </c:pt>
                <c:pt idx="6">
                  <c:v>18002000.0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 Expected Outcome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cat>
            <c:strRef>
              <c:f>Sheet1!$A$2:$A$8</c:f>
              <c:strCache>
                <c:ptCount val="7"/>
                <c:pt idx="0">
                  <c:v>0.25×</c:v>
                </c:pt>
                <c:pt idx="1">
                  <c:v>0.5×</c:v>
                </c:pt>
                <c:pt idx="2">
                  <c:v>0.75×</c:v>
                </c:pt>
                <c:pt idx="3">
                  <c:v>1×</c:v>
                </c:pt>
                <c:pt idx="4">
                  <c:v>1.25×</c:v>
                </c:pt>
                <c:pt idx="5">
                  <c:v>1.5×</c:v>
                </c:pt>
                <c:pt idx="6">
                  <c:v>2×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16900500.0</c:v>
                </c:pt>
                <c:pt idx="1">
                  <c:v>17175700.0</c:v>
                </c:pt>
                <c:pt idx="2">
                  <c:v>17348000.0</c:v>
                </c:pt>
                <c:pt idx="3">
                  <c:v>17475800.0</c:v>
                </c:pt>
                <c:pt idx="4">
                  <c:v>17578000.0</c:v>
                </c:pt>
                <c:pt idx="5">
                  <c:v>17655800.0</c:v>
                </c:pt>
                <c:pt idx="6">
                  <c:v>17775500.0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Display Expected Outcome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cat>
            <c:strRef>
              <c:f>Sheet1!$A$2:$A$8</c:f>
              <c:strCache>
                <c:ptCount val="7"/>
                <c:pt idx="0">
                  <c:v>0.25×</c:v>
                </c:pt>
                <c:pt idx="1">
                  <c:v>0.5×</c:v>
                </c:pt>
                <c:pt idx="2">
                  <c:v>0.75×</c:v>
                </c:pt>
                <c:pt idx="3">
                  <c:v>1×</c:v>
                </c:pt>
                <c:pt idx="4">
                  <c:v>1.25×</c:v>
                </c:pt>
                <c:pt idx="5">
                  <c:v>1.5×</c:v>
                </c:pt>
                <c:pt idx="6">
                  <c:v>2×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17102900.0</c:v>
                </c:pt>
                <c:pt idx="1">
                  <c:v>17269000.0</c:v>
                </c:pt>
                <c:pt idx="2">
                  <c:v>17381700.0</c:v>
                </c:pt>
                <c:pt idx="3">
                  <c:v>17475800.0</c:v>
                </c:pt>
                <c:pt idx="4">
                  <c:v>17547600.0</c:v>
                </c:pt>
                <c:pt idx="5">
                  <c:v>17605900.0</c:v>
                </c:pt>
                <c:pt idx="6">
                  <c:v>17687600.0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Display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cat>
            <c:strRef>
              <c:f>Sheet1!$A$2:$A$8</c:f>
              <c:strCache>
                <c:ptCount val="7"/>
                <c:pt idx="0">
                  <c:v>0.25×</c:v>
                </c:pt>
                <c:pt idx="1">
                  <c:v>0.5×</c:v>
                </c:pt>
                <c:pt idx="2">
                  <c:v>0.75×</c:v>
                </c:pt>
                <c:pt idx="3">
                  <c:v>1×</c:v>
                </c:pt>
                <c:pt idx="4">
                  <c:v>1.25×</c:v>
                </c:pt>
                <c:pt idx="5">
                  <c:v>1.5×</c:v>
                </c:pt>
                <c:pt idx="6">
                  <c:v>2×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17102900.0</c:v>
                </c:pt>
                <c:pt idx="1">
                  <c:v>17269000.0</c:v>
                </c:pt>
                <c:pt idx="2">
                  <c:v>17381700.0</c:v>
                </c:pt>
                <c:pt idx="3">
                  <c:v>17475800.0</c:v>
                </c:pt>
                <c:pt idx="4">
                  <c:v>17547600.0</c:v>
                </c:pt>
                <c:pt idx="5">
                  <c:v>17605900.0</c:v>
                </c:pt>
                <c:pt idx="6">
                  <c:v>17687600.0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LinkedIn Ads</c:v>
                </c:pt>
              </c:strCache>
            </c:strRef>
          </c:tx>
          <c:spPr>
            <a:ln>
              <a:solidFill>
                <a:srgbClr val="1F4E78"/>
              </a:solidFill>
            </a:ln>
          </c:spPr>
          <c:cat>
            <c:strRef>
              <c:f>Sheet1!$A$2:$A$8</c:f>
              <c:strCache>
                <c:ptCount val="7"/>
                <c:pt idx="0">
                  <c:v>0.25×</c:v>
                </c:pt>
                <c:pt idx="1">
                  <c:v>0.5×</c:v>
                </c:pt>
                <c:pt idx="2">
                  <c:v>0.75×</c:v>
                </c:pt>
                <c:pt idx="3">
                  <c:v>1×</c:v>
                </c:pt>
                <c:pt idx="4">
                  <c:v>1.25×</c:v>
                </c:pt>
                <c:pt idx="5">
                  <c:v>1.5×</c:v>
                </c:pt>
                <c:pt idx="6">
                  <c:v>2×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16467800.0</c:v>
                </c:pt>
                <c:pt idx="1">
                  <c:v>16951600.0</c:v>
                </c:pt>
                <c:pt idx="2">
                  <c:v>17256800.0</c:v>
                </c:pt>
                <c:pt idx="3">
                  <c:v>17475800.0</c:v>
                </c:pt>
                <c:pt idx="4">
                  <c:v>17646600.0</c:v>
                </c:pt>
                <c:pt idx="5">
                  <c:v>17786100.0</c:v>
                </c:pt>
                <c:pt idx="6">
                  <c:v>18002000.0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Search</c:v>
                </c:pt>
              </c:strCache>
            </c:strRef>
          </c:tx>
          <c:spPr>
            <a:ln>
              <a:solidFill>
                <a:srgbClr val="2E7D32"/>
              </a:solidFill>
            </a:ln>
          </c:spPr>
          <c:cat>
            <c:strRef>
              <c:f>Sheet1!$A$2:$A$8</c:f>
              <c:strCache>
                <c:ptCount val="7"/>
                <c:pt idx="0">
                  <c:v>0.25×</c:v>
                </c:pt>
                <c:pt idx="1">
                  <c:v>0.5×</c:v>
                </c:pt>
                <c:pt idx="2">
                  <c:v>0.75×</c:v>
                </c:pt>
                <c:pt idx="3">
                  <c:v>1×</c:v>
                </c:pt>
                <c:pt idx="4">
                  <c:v>1.25×</c:v>
                </c:pt>
                <c:pt idx="5">
                  <c:v>1.5×</c:v>
                </c:pt>
                <c:pt idx="6">
                  <c:v>2×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16900500.0</c:v>
                </c:pt>
                <c:pt idx="1">
                  <c:v>17175700.0</c:v>
                </c:pt>
                <c:pt idx="2">
                  <c:v>17348000.0</c:v>
                </c:pt>
                <c:pt idx="3">
                  <c:v>17475800.0</c:v>
                </c:pt>
                <c:pt idx="4">
                  <c:v>17578000.0</c:v>
                </c:pt>
                <c:pt idx="5">
                  <c:v>17655800.0</c:v>
                </c:pt>
                <c:pt idx="6">
                  <c:v>17775500.0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Calibri"/>
              </a:rPr>
              <a:t>Marketing Mix Model · 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8200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4E78"/>
                </a:solidFill>
                <a:latin typeface="Calibri"/>
              </a:rPr>
              <a:t>Marketing Budget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77639"/>
            <a:ext cx="274320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Weekly pipeline model · 3 channels · $1.55M total budget · High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95959"/>
                </a:solidFill>
                <a:latin typeface="Calibri"/>
              </a:rPr>
              <a:t>Marketing Budget — Executive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F4E78"/>
                </a:solidFill>
                <a:latin typeface="Calibri"/>
              </a:rPr>
              <a:t>Shift ~15 pts of budget from Display to LinkedIn 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8595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LinkedIn Ads is the strongest performer; reallocating from Display raises expected return at the current total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Calibri"/>
              </a:rPr>
              <a:t>Weekly pipeline model · 3 channels · $1.55M total budget · High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697480"/>
            <a:ext cx="21945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 confidence: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51960"/>
            <a:ext cx="2567863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$4.81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TOP CHANNEL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823" y="4251960"/>
            <a:ext cx="2567863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$1.51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NEXT-$ ROI (TOP CHANNEL)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4251960"/>
            <a:ext cx="2567863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$17,786,700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EXPECTED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5189" y="4251960"/>
            <a:ext cx="2567863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High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MODEL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801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LinkedIn Ads is the strongest performer; reallocating from Display raises expected return at the current total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700">
                <a:solidFill>
                  <a:srgbClr val="1F4E78"/>
                </a:solidFill>
                <a:latin typeface="Calibri"/>
              </a:rPr>
              <a:t>Recommendation: Shift ~15 pts of budget from Display to LinkedIn Ads.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700">
                <a:solidFill>
                  <a:srgbClr val="1F4E78"/>
                </a:solidFill>
                <a:latin typeface="Calibri"/>
              </a:rPr>
              <a:t>Why: LinkedIn Ads returns $4.81 per $1 vs Display's $1.99 per $1 — the widest ROI gap in the mix.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700">
                <a:solidFill>
                  <a:srgbClr val="1F4E78"/>
                </a:solidFill>
                <a:latin typeface="Calibri"/>
              </a:rPr>
              <a:t>Impact: At the recommended mix, modeled pipeline is $17.79M (90% CI $17.43M – $18.13M), holding total budget at $1.55M.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700">
                <a:solidFill>
                  <a:srgbClr val="1F4E78"/>
                </a:solidFill>
                <a:latin typeface="Calibri"/>
              </a:rPr>
              <a:t>Confidence: High.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21945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 confidence: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Recommended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600">
                <a:solidFill>
                  <a:srgbClr val="1F4E78"/>
                </a:solidFill>
                <a:latin typeface="Calibri"/>
              </a:rPr>
              <a:t>1.  Phase the shift from Display to LinkedIn Ads over 2–4 weeks rather than all at once.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600">
                <a:solidFill>
                  <a:srgbClr val="1F4E78"/>
                </a:solidFill>
                <a:latin typeface="Calibri"/>
              </a:rPr>
              <a:t>2.  Run an incrementality test (holdout or geo) on LinkedIn Ads to confirm the modeled lift before the full move.</a:t>
            </a:r>
          </a:p>
          <a:p>
            <a:pPr>
              <a:lnSpc>
                <a:spcPct val="140000"/>
              </a:lnSpc>
              <a:spcAft>
                <a:spcPts val="1000"/>
              </a:spcAft>
            </a:pPr>
            <a:r>
              <a:rPr sz="1600">
                <a:solidFill>
                  <a:srgbClr val="1F4E78"/>
                </a:solidFill>
                <a:latin typeface="Calibri"/>
              </a:rPr>
              <a:t>3.  Re-run the model monthly as spend enters new ranges, then revisit the mix.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Budget &amp;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801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Recommended reallocation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Net effect: LinkedIn Ads up 15 pts, Display down 12 pts — total budget unchanged.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60350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Share of budget: current → 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LinkedIn Ads: increase 15 pts (33% → 49%).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Display: decrease 12 pts (34% → 22%).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Search: decrease 3 pts (33% → 30%).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8404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In dollars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206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F4E78"/>
                </a:solidFill>
                <a:latin typeface="Calibri"/>
              </a:rPr>
              <a:t>LinkedIn Ads: $515,274 → $755,894 (+$240,620).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F4E78"/>
                </a:solidFill>
                <a:latin typeface="Calibri"/>
              </a:rPr>
              <a:t>Display: $530,159 → $338,698 (-$191,461).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F4E78"/>
                </a:solidFill>
                <a:latin typeface="Calibri"/>
              </a:rPr>
              <a:t>Search: $507,811 → $458,652 (-$49,159).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8"/>
                </a:solidFill>
                <a:latin typeface="Calibri"/>
              </a:rPr>
              <a:t>Expected pipeline at the recommended mix: $17,786,700 (90% CI $17,427,200 – $18,127,600).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What if we change the total budget?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More total budget helps, but with steep diminishing returns — the marginal dollar buys less pipeline at every step up.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60350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Total budget scenario (× today's spend)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402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Scaling total budget from 0.5x to 2.0x ($0.78M → $3.11M) lifts modeled pipeline from $16.66M to $18.89M — about 13% more outcome, with returns flattening as budget grows.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Performance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801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Channel performance — return per $1 spent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LinkedIn Ads returns $4.81 per $1 — the strongest channel, 2.4x Display's $1.99 per $1.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60350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Ranked by expected ROI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2240280"/>
          <a:ext cx="475487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050"/>
                <a:gridCol w="967094"/>
                <a:gridCol w="886503"/>
                <a:gridCol w="153123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T="25400" marB="254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Expected ROI</a:t>
                      </a:r>
                    </a:p>
                  </a:txBody>
                  <a:tcPr marT="25400" marB="254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Next-$ ROI</a:t>
                      </a:r>
                    </a:p>
                  </a:txBody>
                  <a:tcPr marT="25400" marB="254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90% CI</a:t>
                      </a:r>
                    </a:p>
                  </a:txBody>
                  <a:tcPr marT="25400" marB="25400" anchor="ctr">
                    <a:solidFill>
                      <a:srgbClr val="1F4E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8"/>
                          </a:solidFill>
                          <a:latin typeface="Calibri"/>
                        </a:rPr>
                        <a:t>LinkedIn Ads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$4.81 per $1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$1.51 per $1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$1.61 per $1 – $9.53 per $1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8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$3.03 per $1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$0.86 per $1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$0.76 per $1 – $8.30 per $1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8"/>
                          </a:solidFill>
                          <a:latin typeface="Calibri"/>
                        </a:rPr>
                        <a:t>Display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$1.99 per $1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$0.55 per $1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4E78"/>
                          </a:solidFill>
                          <a:latin typeface="Calibri"/>
                        </a:rPr>
                        <a:t>$0.46 per $1 – $5.96 per $1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3867911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Next-$ ROI = the return on the next dollar at today's spend (defined in the metric key near the end).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LinkedIn Ads — return per $1 spent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LinkedIn Ads: clear room to scale — the next dollar still returns well above $1 (marginal return ≈ $1.51 per $1).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10047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$4.81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EXPECTED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410047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$1.51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NEXT-$ ROI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246120"/>
          <a:ext cx="60350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88036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Expected outcome vs spend (1× = today's spend)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461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Expected ROI, 90% interval: $1.61 – $9.53 per $1.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Next-$ ROI, 90% interval: $0.47 – $2.55 per $1.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Search — return per $1 spent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Search: approaching saturation — the next dollar returns less than $1 (marginal return ≈ $0.86 per $1).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10047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$3.03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EXPECTED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410047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$0.86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NEXT-$ ROI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246120"/>
          <a:ext cx="60350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88036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Expected outcome vs spend (1× = today's spend)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461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Expected ROI, 90% interval: $0.76 – $8.30 per $1.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Next-$ ROI, 90% interval: $0.21 – $1.97 per $1.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Display — return per $1 spent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Display: approaching saturation — the next dollar returns less than $1 (marginal return ≈ $0.55 per $1).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10047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$1.99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EXPECTED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410047" cy="123444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4E78"/>
                </a:solidFill>
                <a:latin typeface="Calibri"/>
              </a:rPr>
              <a:t>$0.55 per $1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Calibri"/>
              </a:rPr>
              <a:t>NEXT-$ ROI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246120"/>
          <a:ext cx="60350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88036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Expected outcome vs spend (1× = today's spend)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461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Expected ROI, 90% interval: $0.46 – $5.96 per $1.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Next-$ ROI, 90% interval: $0.11 – $1.63 per $1.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Diminishing returns — where each channel saturates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LinkedIn Ads has the most headroom (next dollar ≈ $1.51 per $1); Display, Search already return under $1 at the margin — shift toward the leader, but don't overshoot.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60350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Calibri"/>
              </a:rPr>
              <a:t>Expected outcome vs spend level (1× = today's spend)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402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LinkedIn Ads: clear room to scale — the next dollar still returns well above $1 (marginal return ≈ $1.51 per $1).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Search: approaching saturation — the next dollar returns less than $1 (marginal return ≈ $0.86 per $1).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1F4E78"/>
                </a:solidFill>
                <a:latin typeface="Calibri"/>
              </a:rPr>
              <a:t>Display: approaching saturation — the next dollar returns less than $1 (marginal return ≈ $0.55 per $1).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Appendix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D9E1F2"/>
                </a:solidFill>
                <a:latin typeface="Calibri"/>
              </a:rPr>
              <a:t>Q&amp;A · risks · KPI definitions ·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8016" cy="1920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Questions leadership will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1F4E78"/>
                </a:solidFill>
                <a:latin typeface="Calibri"/>
              </a:rPr>
              <a:t>Q   How much pipeline does this produce?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595959"/>
                </a:solidFill>
                <a:latin typeface="Calibri"/>
              </a:rPr>
              <a:t>     At the recommended mix, modeled pipeline is $17.79M (90% CI $17.43M – $18.13M), holding total budget at $1.55M.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8"/>
                </a:solidFill>
                <a:latin typeface="Calibri"/>
              </a:rPr>
              <a:t>Q   Why move budget into LinkedIn Ads and out of Display?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595959"/>
                </a:solidFill>
                <a:latin typeface="Calibri"/>
              </a:rPr>
              <a:t>     LinkedIn Ads returns $4.81 per $1 versus Display's $1.99 per $1 — reallocating raises expected return at the same total spend.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8"/>
                </a:solidFill>
                <a:latin typeface="Calibri"/>
              </a:rPr>
              <a:t>Q   Won't LinkedIn Ads saturate if we spend more there?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595959"/>
                </a:solidFill>
                <a:latin typeface="Calibri"/>
              </a:rPr>
              <a:t>     Its response curve still returns about $1.51 per $1 on the next dollar above today's spend, so there is headroom — we still recommend scaling in stages and re-checking.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8"/>
                </a:solidFill>
                <a:latin typeface="Calibri"/>
              </a:rPr>
              <a:t>Q   What if we increase the overall budget?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595959"/>
                </a:solidFill>
                <a:latin typeface="Calibri"/>
              </a:rPr>
              <a:t>     Scaling total budget from 0.5x to 2.0x ($0.78M → $3.11M) lifts modeled pipeline from $16.66M to $18.89M — about 13% more outcome, with returns flattening as budget grows.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8"/>
                </a:solidFill>
                <a:latin typeface="Calibri"/>
              </a:rPr>
              <a:t>Q   How confident are you, and what's the risk?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595959"/>
                </a:solidFill>
                <a:latin typeface="Calibri"/>
              </a:rPr>
              <a:t>     Overall model confidence is High; the recommendation stays within the spend range the model was trained on.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F4E78"/>
                </a:solidFill>
                <a:latin typeface="Calibri"/>
              </a:rPr>
              <a:t>Q   Is the channel ranking robust?</a:t>
            </a:r>
          </a:p>
          <a:p>
            <a:pPr>
              <a:spcAft>
                <a:spcPts val="900"/>
              </a:spcAft>
            </a:pPr>
            <a:r>
              <a:rPr sz="1150">
                <a:solidFill>
                  <a:srgbClr val="595959"/>
                </a:solidFill>
                <a:latin typeface="Calibri"/>
              </a:rPr>
              <a:t>     Channel ranking held across all 10 perturbation runs (top-3 preservation 100%) — the ordering is robust to reasonable data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What to 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1F4E78"/>
                </a:solidFill>
                <a:latin typeface="Calibri"/>
              </a:rPr>
              <a:t>Channel ranking held across all 10 perturbation runs (top-3 preservation 100%) — the ordering is robust to reasonable data variation.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1F4E78"/>
                </a:solidFill>
                <a:latin typeface="Calibri"/>
              </a:rPr>
              <a:t>• section 'reconciliation' is absent or empty; emitting []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How to read these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Calibri"/>
              </a:rPr>
              <a:t>A quick key to the metrics behind every chart — so the recommendation is easy to challenge.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94414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527"/>
                <a:gridCol w="8452887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25400" marB="25400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T="25400" marB="25400" anchor="ctr">
                    <a:solidFill>
                      <a:srgbClr val="1F4E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Expected ROI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4E78"/>
                          </a:solidFill>
                          <a:latin typeface="Calibri"/>
                        </a:rPr>
                        <a:t>Return per $1 spent, averaged over a channel's current spend. LinkedIn Ads' $4.81 per $1 means every dollar it gets is modeled to return $4.81 of pipeline. Display sits at the low end at $1.99 per $1.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Marginal (next-dollar) ROI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4E78"/>
                          </a:solidFill>
                          <a:latin typeface="Calibri"/>
                        </a:rPr>
                        <a:t>What the next dollar returns at today's spend — always at or below expected ROI because of diminishing returns. LinkedIn Ads' next dollar returns $1.51 per $1 versus its $4.81 per $1 average. Once it drops under $1 a channel loses money at the margin: Display's next dollar returns just $0.55 per $1, which is why budget moves off it.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Confidence &amp; 90% CI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4E78"/>
                          </a:solidFill>
                          <a:latin typeface="Calibri"/>
                        </a:rPr>
                        <a:t>Every figure is a modeled estimate, not a guarantee; this deck reads High confidence. LinkedIn Ads' $4.81 per $1 carries a 90% CI of $1.61 per $1 – $9.53 per $1 — the plausible range. High / Medium / Low flags how strongly the data backs the call.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Response curve &amp; saturation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4E78"/>
                          </a:solidFill>
                          <a:latin typeface="Calibri"/>
                        </a:rPr>
                        <a:t>Expected pipeline as a channel's spend scales up or down. Scaling LinkedIn Ads from $515,274 to $1.03M (2.0x) moves modeled pipeline from $17.48M to $18.00M — the curve bends, so each extra dollar buys less than the last.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Reallocation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4E78"/>
                          </a:solidFill>
                          <a:latin typeface="Calibri"/>
                        </a:rPr>
                        <a:t>Moving budget from lower-ROI to higher-ROI channels at the same total spend ($1.55M). Here, about 15 pts shifts out of Display into LinkedIn Ads — more pipeline for the same money.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4E78"/>
                          </a:solidFill>
                          <a:latin typeface="Calibri"/>
                        </a:rPr>
                        <a:t>Budget tiers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4E78"/>
                          </a:solidFill>
                          <a:latin typeface="Calibri"/>
                        </a:rPr>
                        <a:t>Scenarios that scale total spend up or down. Going from 0.5x to 2.0x lifts modeled pipeline from $16.66M to $18.89M — $2.23M more, with each step up buying less.</a:t>
                      </a:r>
                    </a:p>
                  </a:txBody>
                  <a:tcPr marT="25400" marB="25400" anchor="ctr"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Calibri"/>
              </a:rPr>
              <a:t>Methodology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4415" cy="317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• PyMC MMM v1.0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500">
                <a:solidFill>
                  <a:srgbClr val="595959"/>
                </a:solidFill>
                <a:latin typeface="Calibri"/>
              </a:rPr>
              <a:t>• Figures are model estimates with credible intervals, not guarantees; reallocations assume the current total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6A6A6"/>
                </a:solidFill>
                <a:latin typeface="Calibri"/>
              </a:rPr>
              <a:t>schema 1.0.0   ·   pipeline_usd   ·   weekly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6A6A6"/>
                </a:solidFill>
                <a:latin typeface="Calibri"/>
              </a:rPr>
              <a:t>Confidential — model estimates, not guarantees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047" y="6492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6A6A6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